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Worked example: risk rises with autonomy and data sensitivity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/ defects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Research</c:v>
                </c:pt>
                <c:pt idx="1">
                  <c:v>Draft</c:v>
                </c:pt>
                <c:pt idx="2">
                  <c:v>Edit files</c:v>
                </c:pt>
                <c:pt idx="3">
                  <c:v>Send</c:v>
                </c:pt>
                <c:pt idx="4">
                  <c:v>Purchase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28</c:v>
                </c:pt>
                <c:pt idx="2">
                  <c:v>52</c:v>
                </c:pt>
                <c:pt idx="3">
                  <c:v>82</c:v>
                </c:pt>
                <c:pt idx="4">
                  <c:v>96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Worked example: defects removed by review gates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/ defects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Sheet1!$A$2:$A$6</c:f>
              <c:strCache>
                <c:ptCount val="5"/>
                <c:pt idx="0">
                  <c:v>First draft</c:v>
                </c:pt>
                <c:pt idx="1">
                  <c:v>Diff review</c:v>
                </c:pt>
                <c:pt idx="2">
                  <c:v>Browser test</c:v>
                </c:pt>
                <c:pt idx="3">
                  <c:v>Accessibility</c:v>
                </c:pt>
                <c:pt idx="4">
                  <c:v>Owner review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9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Worked example: permission blast radius by design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/ defects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Sheet1!$A$2:$A$6</c:f>
              <c:strCache>
                <c:ptCount val="5"/>
                <c:pt idx="0">
                  <c:v>All Drive</c:v>
                </c:pt>
                <c:pt idx="1">
                  <c:v>Shared folder</c:v>
                </c:pt>
                <c:pt idx="2">
                  <c:v>Single project</c:v>
                </c:pt>
                <c:pt idx="3">
                  <c:v>Read-only source</c:v>
                </c:pt>
                <c:pt idx="4">
                  <c:v>No connection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58</c:v>
                </c:pt>
                <c:pt idx="2">
                  <c:v>34</c:v>
                </c:pt>
                <c:pt idx="3">
                  <c:v>16</c:v>
                </c:pt>
                <c:pt idx="4">
                  <c:v>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Worked example: quality score before and after controls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controls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Completeness</c:v>
                </c:pt>
                <c:pt idx="2">
                  <c:v>Safety</c:v>
                </c:pt>
                <c:pt idx="3">
                  <c:v>Accessibility</c:v>
                </c:pt>
                <c:pt idx="4">
                  <c:v>Owner acceptance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70</c:v>
                </c:pt>
                <c:pt idx="2">
                  <c:v>55</c:v>
                </c:pt>
                <c:pt idx="3">
                  <c:v>68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controls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Completeness</c:v>
                </c:pt>
                <c:pt idx="2">
                  <c:v>Safety</c:v>
                </c:pt>
                <c:pt idx="3">
                  <c:v>Accessibility</c:v>
                </c:pt>
                <c:pt idx="4">
                  <c:v>Owner acceptance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91</c:v>
                </c:pt>
                <c:pt idx="1">
                  <c:v>92</c:v>
                </c:pt>
                <c:pt idx="2">
                  <c:v>96</c:v>
                </c:pt>
                <c:pt idx="3">
                  <c:v>88</c:v>
                </c:pt>
                <c:pt idx="4">
                  <c:v>94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4173-AI-Agents-with-Gemini-Spar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/overview/agent/spark/" TargetMode="Externa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google.com/gemini/answer/17094507?hl=en&amp;co=GENIE.Platform=Android" TargetMode="External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google.com/gemini/answer/17094507?hl=en&amp;co=GENIE.Platform=Androi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google.com/gemini/answer/17094507?hl=en&amp;co=GENIE.Platform=Androi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/overview/agent/spark/" TargetMode="External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google.com/gemini/answer/17094507?hl=en&amp;co=GENIE.Platform=Android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/overview/agent/spark/" TargetMode="External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port.google.com/gemini/answer/17094507?hl=en&amp;co=GENIE.Platform=Android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/overview/agent/spark/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/overview/agent/spark/" TargetMode="External"/><Relationship Id="rId3" Type="http://schemas.openxmlformats.org/officeDocument/2006/relationships/hyperlink" Target="https://support.google.com/gemini/answer/17094507?hl=en&amp;co=GENIE.Platform=Android" TargetMode="External"/><Relationship Id="rId4" Type="http://schemas.openxmlformats.org/officeDocument/2006/relationships/hyperlink" Target="https://support.google.com/gemini/answer/17171264?hl=en" TargetMode="External"/><Relationship Id="rId5" Type="http://schemas.openxmlformats.org/officeDocument/2006/relationships/hyperlink" Target="https://blog.google/innovation-and-ai/products/gemini-app/next-evolution-gemini-app/" TargetMode="Externa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ardwarezone.com.sg/guides/how-to-use-gemini-spark-guide" TargetMode="External"/><Relationship Id="rId3" Type="http://schemas.openxmlformats.org/officeDocument/2006/relationships/hyperlink" Target="https://www.datacamp.com/blog/gemini-spark" TargetMode="External"/><Relationship Id="rId4" Type="http://schemas.openxmlformats.org/officeDocument/2006/relationships/hyperlink" Target="https://www.wired.com/story/google-gemini-spark-ai-agent-hands-on/" TargetMode="Externa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casl-ai-agents-with-gemini-spark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mini-spark-cover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7616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777240" cy="777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2377440" cy="4114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82496"/>
            <a:ext cx="2011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Agents with Gemini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4480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Agent strategy · vibe coding · human review · governed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56048"/>
            <a:ext cx="4663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TGS-2026064173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· 23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and Operating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Everything needed before the technical learning begins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trainer-provided TRAQOM QR code when class begins.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after lunch.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attendance before the PP begins.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Funding 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1755648"/>
            <a:ext cx="333756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64208" y="2212848"/>
            <a:ext cx="1508760" cy="15087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2212848"/>
            <a:ext cx="1508760" cy="1508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39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29260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1755648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1755648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1828800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819656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2450592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2450592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523744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DESIGNATION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514600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145536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3145536"/>
            <a:ext cx="73152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218688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09544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07408" y="3840480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07408" y="38404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3913632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904488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4535424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07408" y="4535424"/>
            <a:ext cx="73152" cy="59436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4608576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F5D60"/>
                </a:solidFill>
                <a:latin typeface="Arial"/>
              </a:rPr>
              <a:t>EXPERIENCE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99432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07408" y="5230368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7408" y="5230368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8" y="5303520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294376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1755648"/>
            <a:ext cx="333756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64208" y="2212848"/>
            <a:ext cx="1508760" cy="1508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2212848"/>
            <a:ext cx="1508760" cy="1508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39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29260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1755648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1755648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1828800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819656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Principal trainer and courseware architect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2450592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2450592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523744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514600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Doctorate; ACTA/DACE-qualified adult educator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145536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3145536"/>
            <a:ext cx="73152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218688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EXPERTISE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09544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AI agents, cloud automation, software engineering and digital learning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07408" y="3840480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07408" y="38404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3913632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904488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Technical WSQ programmes and applied workplace labs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4535424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07408" y="4535424"/>
            <a:ext cx="73152" cy="59436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4608576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F5D60"/>
                </a:solidFill>
                <a:latin typeface="Arial"/>
              </a:rPr>
              <a:t>ORGANISATION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99432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07408" y="5230368"/>
            <a:ext cx="7040880" cy="594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7408" y="5230368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8" y="5303520"/>
            <a:ext cx="16002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294376"/>
            <a:ext cx="484632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role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work do you own today?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repetitive task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Which workflow consumes time or attention?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web goal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should the website help a visitor accomplish?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risk boundary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Which action should always need human approval?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evidence, not credentials.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mock data and provided accounts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 small changes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every meaningful patch before continuing.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Keep 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Stop an agent that exceeds the approved plan.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Return on 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Breaks are short in this one-day programme.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4204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4204" y="4721352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5372" y="494995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5372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5452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 ownership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publish, send or transact without approval.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FOUR TECHNICAL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Strategy and Gemini Spark Runtime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LO1 · K1,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a Responsive Website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LO2 · K4, K5, A2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Skills, Schedules and Implementation Governance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LO3 · K3, K5, A3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Monitoring, Incident Control and Optimisation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LO4 · K2, K6, A4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One-Day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Learning block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09:20-11:20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strategy + Lab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Strategy and approval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11:20-13:40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Vibe coding + Lab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Responsive website and test 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13:40-15:30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Skills/schedules + Lab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 and implementation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15:30-16:30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Monitoring + Lab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Scorecard and incident record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16:40-18:00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PP + OQ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A1-A4 and K1-K6 evidence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5047488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148072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Detailed procedures remain in the Learner Guide and lab folders.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Determine an AI-agent strategy by translating a web-design goal into bounded tasks, permissions, risks and human approval 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Develop web content and a responsive website through a controlled vibe-coding loop using Claude Code, Codex or Antigravity, with Gemini Spark supporting research and reusable skills.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Develop an implementation plan for Gemini Spark tasks, skills, schedules and connected tools, including responsibilities, timelines and rollback controls.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Evaluate agent and website performance using evidence, acceptance criteria, incident signals and iterative improvement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LMS course record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verified course links are stored at lms-tms.tertiaryinfotech.com.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Learner Guide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detailed procedures, prompts, evidence rules and acceptance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Learner slides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PDF for concepts, visual models and assessment alignment.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Hands-on labs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Get the self-contained lab folders from the linked GitHub repository.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70448"/>
            <a:ext cx="100584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GITHUB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Option A · Clone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git clone https://github.com/tertiarycourses/TGS-2026064173-AI-Agents-with-Gemini-Spark.git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Option B · Download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GitHub → Code → Download ZIP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structure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lab is self-contained with files, evidence and acceptance checks.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Coding choice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Claude Code, Codex or Antigravity; record which one you chose.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70448"/>
            <a:ext cx="100584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https://github.com/tertiarycourses/TGS-2026064173-AI-Agents-with-Gemini-Spark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PP and OQ independently.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slides, Learner Guide and approved lab files.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Submit the requested artifacts and answer each criterion.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Every A and K criterion must be assessed competent.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sharing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photograph or circulate assessment scripts.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4204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4204" y="4721352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5372" y="494995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5372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5452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Appeal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assessor will explain the feedback and appeal process.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PP + OQ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 tasks · A1-A4 · 60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Oral Questioning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 questions · K1-K6 · 20 minutes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Candidate papers are completed on the LMS.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Answer keys remain trainer-only and are never published.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TRAQOM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Oral Questioning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Sign assessment record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PP covers A1-A4; OQ covers K1-K6; all criteria must be competent.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CORE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From Chatbot to Governed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technical distinctions that make the rest of the course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RUNTIME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Chatbot, Assistant and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Chatbot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Control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 →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Goal → plan → act → observe → revise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Conversation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 thread, files, schedules and tool 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Optional retrieval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Connected apps, browser and code execution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Ends with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May continue in background or on a trigger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Risk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Wrong answer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Wrong action or repeated wrong action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5047488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148072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Treat every tool action as a state change that needs evidence and a recovery route.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OFFICIAL PRODUCT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Gemini Spark: Tasks, Skills and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pic>
        <p:nvPicPr>
          <p:cNvPr id="19" name="Picture 18" descr="google-spark-trip-officia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Tasks define what, skills define how, and schedules define when. Connected apps provide the action surface; the task thread and work panel preserve observable progress.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WEB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Vibe-Coding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pic>
        <p:nvPicPr>
          <p:cNvPr id="18" name="Picture 17" descr="vibe-coding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VISUAL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useful loop is brief → thin prototype → diff review → browser checks → owner review → one controlled improvement. The human owns intent and acceptance.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Human-in-the-Loop Is a Control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pic>
        <p:nvPicPr>
          <p:cNvPr id="19" name="Picture 18" descr="human-in-the-loop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READ THE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reviewer checks plan, evidence, permissions and consequence before the final action. A decorative approve button is not enough; the evidence and rollback route must be visible.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CURRENT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 Constraints That Change the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Constraint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Current product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Design consequence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Personal Google Account; Pro or Ultra; Keep Activity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24942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1343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Prepare a fallback simulation for learners without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Availability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Feature availability varies by region and platform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779776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4378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make course completion depend on one live screen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Concurrency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 to 15 tasks may run at once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31012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37413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deduplication and no-overlap schedules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Sensitive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type sign-in or payment data into the task thread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3840480"/>
            <a:ext cx="3566160" cy="53035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39044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takeover and enter it on the website directly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Safety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Experimental feature; supervision remains important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8" y="437083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443484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Require review gates and safe stop conditions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5047488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148072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Verify live access before class; use the supplied offline artifacts when Spark is unavailable.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5989320"/>
            <a:ext cx="29260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Google Help source ↗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 · LO1 · K1,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Agent Strategy and Gemini Spark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Goal contract - task plan - tools - state - approval -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Agent Strategy and Gemini Spark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102412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Autonomy is safe only when the goal, permission boundary, evidence and stop conditions are explicit.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10241280" cy="10972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96926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this as the design test for every mechanism, task and lab artifact in this topic.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COMPONENT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Architecture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Task thread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Holds the goal, instructions, files and task 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Planner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Decomposes the goal into observable steps and revises when blocked.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Reusable how-to instructions and context, selected explicitly or automatically.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Connected 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Workspace apps, websites, local or remote browser, and code execution.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Review, confirm, take over, stop, pause schedules and inspect changed files.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State the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Inspect 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Propose a plan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 bounded tools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Return evidence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A task is observable only when each stage exposes inputs, state, output and the next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REQUIRED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measurable business outcome; avoid vague verbs such as improve or optimise.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Named apps, folders, sites, audience, date range and excluded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Exact artifact, schema, destination and quality threshold.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Approval gates, stop rules, rollback owner and escalation path.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Choice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 prompt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Time or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Persistence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Single task thread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repeatedly until paused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Best 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Bounded deliverable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Stable recurring operation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Primary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Misread intent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Unobserved repeated error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Choose the lowest-autonomy pattern that still meets the business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F5D60"/>
                </a:solidFill>
                <a:latin typeface="Arial"/>
              </a:rPr>
              <a:t>TOPIC 01 · 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Failure → Diagnostic →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Observable diagnostic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Goal drift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Plan no longer serves the stated business 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Restate acceptance criteria and cancel non-essential branches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Permission creep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requests broader access mid-task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Deny, narrow the task, and document the exception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Hidden dependency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Website, login or file is unavailable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 and request takeover; do not improvise credentials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Weak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reports success without artifact or trace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Require links, filenames, before/after state and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Stop on ambiguous authority; do not hide a partial or failed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01 ·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Case: Northstar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context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local design studio needs a lead-generation website. Spark may research competitors and organise source material, while the coding agent builds locally. Publishing, form submission and customer communications remain human-approved actions.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Approves sources, claims, permissions and any public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boundary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Researches, drafts, edits or analyses only within the approved contract.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package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diff, files, tests, source log, approval and rollback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risk rises with autonomy and data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49808" y="178308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94192" y="1828800"/>
            <a:ext cx="2944368" cy="36118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084831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242316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 Values are an illustrative worked example.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 Compare relative risk or improvement, not industry benchmarks.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3. Use your own run evidence to replace these values.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Points Across the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goal, inputs, access and risk tier.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During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 progress, changed files, tool use and confirmation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 consequence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 human review for communications, publishing, payments and sensitive edits.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After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back the external state, store evidence and schedule the next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When May the Agent Continue?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8" name="Diamond 17"/>
          <p:cNvSpPr/>
          <p:nvPr/>
        </p:nvSpPr>
        <p:spPr>
          <a:xfrm>
            <a:off x="4480560" y="1828800"/>
            <a:ext cx="2971800" cy="2011680"/>
          </a:xfrm>
          <a:prstGeom prst="diamond">
            <a:avLst/>
          </a:prstGeom>
          <a:solidFill>
            <a:srgbClr val="E8F0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33172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 authority clear, risk bounded, and evidence visible?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4206240" cy="109728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4297680"/>
            <a:ext cx="4206240" cy="1097280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YES · </a:t>
            </a:r>
            <a:r>
              <a:rPr sz="1200" b="0">
                <a:solidFill>
                  <a:srgbClr val="161B26"/>
                </a:solidFill>
                <a:latin typeface="Arial"/>
              </a:rPr>
              <a:t>Continue one bounded step and re-check the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 · </a:t>
            </a:r>
            <a:r>
              <a:rPr sz="1200" b="0">
                <a:solidFill>
                  <a:srgbClr val="161B26"/>
                </a:solidFill>
                <a:latin typeface="Arial"/>
              </a:rPr>
              <a:t>Stop, take over or request a narrower instruction.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3703320"/>
            <a:ext cx="3035808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3703320"/>
            <a:ext cx="3273552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Is a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 brief, source list, version and permission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task progress, tool calls, changed files and confirmations.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Artifact, link, commit, screenshot, test report and source trace.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Reviewer, timestamp, approve/reject reason and rollback target.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PRODUCT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Official Spark Example: Inbox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pic>
        <p:nvPicPr>
          <p:cNvPr id="19" name="Picture 18" descr="google-spark-inbox-officia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agent searches a defined information space, synthesises a result and exposes progress. A workplace version still needs source scope, freshness, approval and evidence rules.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· Create the Agent Strategy and Approval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website goal into a bounded Gemini Spark task with permissions, risk tiers, approval gates and acceptance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strategy brief, task contract, permission matrix, risk register and human-approval map for the Northstar Studio website.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Gemini Spark task planning, browser research, Google Drive, human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A1, K1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 ·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Mechanism - Not the Click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 supplied inputs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Create bounded artifact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 risk and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Test acceptance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Record sign-off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The task can be executed without guessing: every step has an owner, allowed tools, a risk tier, approval rule, stop condition and observable completion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strategy brief, task contract, permission matrix, risk register and human-approval map for the Northstar Studio website.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Acceptance 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task can be executed without guessing: every step has an owner, allowed tools, a risk tier, approval rule, stop condition and observable completion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Practical criterion: A1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Oral criterion: K1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Technical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Holds the goal, instructions, files and task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the outcome → Inspect context → Propose a plan → Use bounded tools → Return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Restate acceptance criteria and cancel non-essential branches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task can be executed without guessing: every step has an owner, allowed tools, a risk tier, approval rule, stop condition and observable completion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 · LO2 · K4, K5,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Vibe Coding a Responsive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Brief - prototype - inspect - test - review - improve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Vibe Coding a Responsive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102412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Vibe coding is rapid co-creation with an AI coding agent, disciplined by small changes, executable evidence and human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10241280" cy="10972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96926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this as the design test for every mechanism, task and lab artifact in this topic.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COMPONENT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Architecture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brief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Audience, job-to-be-done, content, constraints and acceptance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Coding agent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Claude Code, Codex or Antigravity edits the repository from natural-language intent.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Local project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HTML, CSS, JavaScript, assets, README and version history.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loop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Open in a browser, check responsive layouts, links, form states and accessibility.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Accepts, rejects or redirects each meaningful change before release.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Write the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Generate a thin slice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Inspect the diff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Approve or iterate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A task is observable only when each stage exposes inputs, state, output and the next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REQUIRED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Brief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Who the site is for, what action matters, required sections and content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secrets, no unapproved dependencies, no destructive commands, preserve working files.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Desktop/mobile widths, keyboard navigation, readable contrast, valid links and form feedback.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README, file map, known limitations, rollback commit and next review date.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DECISION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Choice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442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415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366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339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Interaction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442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586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Terminal/repository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manager/IDE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366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510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Cloud coding workspace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Typical choice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442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586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Antigravity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366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510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Strength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442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586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Deep local 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904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Multi-agent orchestration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366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510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Sandboxed agentic coding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Review evidence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442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1586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 and commands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904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048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 artifacts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366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510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Patch, tests and run log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Choose the lowest-autonomy pattern that still meets the business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F5D60"/>
                </a:solidFill>
                <a:latin typeface="Arial"/>
              </a:rPr>
              <a:t>TOPIC 02 · 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Failure → Diagnostic →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Observable diagnostic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Prompt pile-up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huge instruction creates many coupled changes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Ask for one thin vertical slice at a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Visual regression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Desktop improvement breaks mobile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at 1440, 768 and 390 px before approval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Plausible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invents facts, testimonials or prices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 supplied content inventory and source every claim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Dependency sprawl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Unnecessary framework or package added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Require a justification and prefer existing stack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Stop on ambiguous authority; do not hide a partial or failed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02 ·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Case: Northstar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context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Northstar Studio needs a fast, accessible one-page website with a hero, services, proof, and contact section. The team uses a coding agent for the implementation while Spark organises approved source material and revision requests.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Approves sources, claims, permissions and any public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boundary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Researches, drafts, edits or analyses only within the approved contract.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package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diff, files, tests, source log, approval and rollback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defects removed by review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49808" y="178308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94192" y="1828800"/>
            <a:ext cx="2944368" cy="36118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084831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HOW TO READ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242316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 Values are an illustrative worked example.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 Compare relative risk or improvement, not industry benchmarks.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3. Use your own run evidence to replace these values.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Points Across the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goal, inputs, access and risk tier.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During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 progress, changed files, tool use and confirmation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 consequence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 human review for communications, publishing, payments and sensitive edits.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After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back the external state, store evidence and schedule the next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When May the Agent Continue?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8" name="Diamond 17"/>
          <p:cNvSpPr/>
          <p:nvPr/>
        </p:nvSpPr>
        <p:spPr>
          <a:xfrm>
            <a:off x="4480560" y="1828800"/>
            <a:ext cx="2971800" cy="2011680"/>
          </a:xfrm>
          <a:prstGeom prst="diamond">
            <a:avLst/>
          </a:prstGeom>
          <a:solidFill>
            <a:srgbClr val="E8F0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33172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 authority clear, risk bounded, and evidence visible?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4206240" cy="109728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4297680"/>
            <a:ext cx="4206240" cy="1097280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YES · </a:t>
            </a:r>
            <a:r>
              <a:rPr sz="1200" b="0">
                <a:solidFill>
                  <a:srgbClr val="161B26"/>
                </a:solidFill>
                <a:latin typeface="Arial"/>
              </a:rPr>
              <a:t>Continue one bounded step and re-check the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 · </a:t>
            </a:r>
            <a:r>
              <a:rPr sz="1200" b="0">
                <a:solidFill>
                  <a:srgbClr val="161B26"/>
                </a:solidFill>
                <a:latin typeface="Arial"/>
              </a:rPr>
              <a:t>Stop, take over or request a narrower instruction.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3703320"/>
            <a:ext cx="3035808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3703320"/>
            <a:ext cx="3273552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Is a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 brief, source list, version and permission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task progress, tool calls, changed files and confirmations.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Artifact, link, commit, screenshot, test report and source trace.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Reviewer, timestamp, approve/reject reason and rollback target.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VISUAL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Review the Website as an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pic>
        <p:nvPicPr>
          <p:cNvPr id="18" name="Picture 17" descr="vibe-coding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VISUAL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loop couples repository changes with visual evidence at multiple viewport widths. The coding agent proposes; the human accepts the user experience and business claims.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· Vibe Code the Northstar Studio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and test a responsive website through a bounded vibe-coding loop using Claude Code, Codex or Antigravity.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working one-page HTML/CSS/JavaScript website, responsive at three widths, with accessible navigation, an evidence log and a rollback commit.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Claude Code, Codex or Antigravity; Git; HTML; CSS; JavaScript; browser testing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A2, K4, K5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2 ·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Mechanism - Not the Click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 supplied inputs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Create bounded artifact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 risk and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Test acceptance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Record sign-off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The website renders without errors, passes the supplied structural checks, works at desktop/tablet/mobile widths, is keyboard navigable, contains only approved claims, and has an identifiable rollback commit.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working one-page HTML/CSS/JavaScript website, responsive at three widths, with accessible navigation, an evidence log and a rollback commit.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Acceptance 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website renders without errors, passes the supplied structural checks, works at desktop/tablet/mobile widths, is keyboard navigable, contains only approved claims, and has an identifiable rollback commit.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Practical criterion: A2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Oral criterion: K4, K5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Technical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Audience, job-to-be-done, content, constraints and acceptance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Write the brief → Generate a thin slice → Inspect the diff → Run checks → Approve or iterate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for one thin vertical slice at a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website renders without errors, passes the supplied structural checks, works at desktop/tablet/mobile widths, is keyboard navigable, contains only approved claims, and has an identifiable rollback commit.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 · LO3 · K3, K5,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Skills, Schedules and Implementation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Reusable instructions - connected apps - trigger - approval -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Skills, Schedules and Implementation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102412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A reusable agent workflow is an operating procedure with versioned instructions, scoped tools, owners and measurable completion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10241280" cy="10972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96926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this as the design test for every mechanism, task and lab artifact in this topic.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COMPONENT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Architecture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what: a complete project or objective managed in a thread.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how: reusable instructions, context, tools and quality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Schedule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when: a time-based or event-based trigger for a task.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Connected apps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where: Gmail, Calendar, Drive, Docs, Sheets, Slides, Search and approved third parties.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Runbook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Owner, approvals, logs, exception handling, rollback and review cadence.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Trigger fires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Load skill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 approved inputs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Create draft artifact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Pause for approval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A task is observable only when each stage exposes inputs, state, output and the next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REQUIRED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trigger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 description of when the skill should and should not be 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Named folder, file types, required fields and freshness window.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 schema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Required headings, fields, filename and destination.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Failure route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Retry limit, alert recipient, safe partial state and manual recovery.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DECISION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Choice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442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415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3668" y="1719072"/>
            <a:ext cx="267462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3396" y="1819656"/>
            <a:ext cx="245516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Choice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One-off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442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586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 schedule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3668" y="2322576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5108" y="2386584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 in thread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Reusable method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442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586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Invoked on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3668" y="2926080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5108" y="2990088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 skill instructions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Recurring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442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586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 + skill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904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Time/event schedule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3668" y="3529584"/>
            <a:ext cx="26746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5108" y="3593592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Monitor every 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Sensitive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442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1586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 + takeover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904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048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 unattended run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3668" y="4133088"/>
            <a:ext cx="26746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5108" y="4197096"/>
            <a:ext cx="249174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 executes final action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Choose the lowest-autonomy pattern that still meets the business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F5D60"/>
                </a:solidFill>
                <a:latin typeface="Arial"/>
              </a:rPr>
              <a:t>TOPIC 03 · 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Failure → Diagnostic →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Observable diagnostic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Stale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 uses an old price list or brief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modification date and reject stale 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Trigger storm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Event creates repeated overlapping runs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Deduplicate by event ID and cap concurrent tasks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Silent 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created but tracker not updated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atomic acceptance evidence for every stage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No owner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Approval request sits unresolved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Assign primary and backup owner with response window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Stop on ambiguous authority; do not hide a partial or failed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03 ·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Case: Northstar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context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weekly website-content workflow reads an approved content inventory, drafts one update, stores it in a review folder, and notifies the owner. It never publishes automatically; the owner sends an approved change request to the coding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Approves sources, claims, permissions and any public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boundary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Researches, drafts, edits or analyses only within the approved contract.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package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diff, files, tests, source log, approval and rollback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permission blast radius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49808" y="178308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94192" y="1828800"/>
            <a:ext cx="2944368" cy="36118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084831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HOW TO READ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242316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 Values are an illustrative worked example.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 Compare relative risk or improvement, not industry benchmarks.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3. Use your own run evidence to replace these values.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Points Across the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goal, inputs, access and risk tier.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During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 progress, changed files, tool use and confirmation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 consequence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 human review for communications, publishing, payments and sensitive edits.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After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back the external state, store evidence and schedule the next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When May the Agent Continue?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8" name="Diamond 17"/>
          <p:cNvSpPr/>
          <p:nvPr/>
        </p:nvSpPr>
        <p:spPr>
          <a:xfrm>
            <a:off x="4480560" y="1828800"/>
            <a:ext cx="2971800" cy="2011680"/>
          </a:xfrm>
          <a:prstGeom prst="diamond">
            <a:avLst/>
          </a:prstGeom>
          <a:solidFill>
            <a:srgbClr val="E8F0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33172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 authority clear, risk bounded, and evidence visible?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4206240" cy="109728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4297680"/>
            <a:ext cx="4206240" cy="1097280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YES · </a:t>
            </a:r>
            <a:r>
              <a:rPr sz="1200" b="0">
                <a:solidFill>
                  <a:srgbClr val="161B26"/>
                </a:solidFill>
                <a:latin typeface="Arial"/>
              </a:rPr>
              <a:t>Continue one bounded step and re-check the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 · </a:t>
            </a:r>
            <a:r>
              <a:rPr sz="1200" b="0">
                <a:solidFill>
                  <a:srgbClr val="161B26"/>
                </a:solidFill>
                <a:latin typeface="Arial"/>
              </a:rPr>
              <a:t>Stop, take over or request a narrower instruction.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3703320"/>
            <a:ext cx="3035808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3703320"/>
            <a:ext cx="3273552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Is a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 brief, source list, version and permission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task progress, tool calls, changed files and confirmations.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Artifact, link, commit, screenshot, test report and source trace.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Reviewer, timestamp, approve/reject reason and rollback target.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PRODUCT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Official Spark Example: Cross-App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pic>
        <p:nvPicPr>
          <p:cNvPr id="19" name="Picture 18" descr="google-spark-trip-officia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7726679" cy="431596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86800" y="1783080"/>
            <a:ext cx="2697480" cy="4160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031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READ THE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743200"/>
            <a:ext cx="2194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recurring workflow can span Gmail, Drive, Docs, Sheets or Calendar. Every connection should be off by default until a specific task requires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· Design a Reusable Spark Content Skill and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the approved content workflow into a reusable skill and a scheduled draft-only operation with ownership and rollback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versioned website-content skill, output schema, schedule specification, trigger deduplication rule and implementation plan.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Gemini Spark skills, schedules, Drive, Docs, Sheets, Gmail notification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A3, K3, K5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3 ·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Mechanism - Not the Click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 supplied inputs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Create bounded artifact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 risk and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Test acceptance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Record sign-off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The skill produces the specified draft and source log, the schedule cannot overlap, publication is impossible without human approval, and every stage has an owner, target time and evidence artifact.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versioned website-content skill, output schema, schedule specification, trigger deduplication rule and implementation plan.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Acceptance 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skill produces the specified draft and source log, the schedule cannot overlap, publication is impossible without human approval, and every stage has an owner, target time and evidence artifact.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Practical criterion: A3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Oral criterion: K3, K5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Technical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what: a complete project or objective managed in a thread.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Trigger fires → Load skill → Read approved inputs → Create draft artifact → Pause for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modification date and reject stale input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skill produces the specified draft and source log, the schedule cannot overlap, publication is impossible without human approval, and every stage has an owner, target time and evidence artifact.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 · LO4 · K2, K6,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Monitoring, Incident Control and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Evidence - scorecard - exception - takeover - root cause - 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Monitoring, Incident Control and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102412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An agent is not successful because it completed a run; it is successful when the output is correct, safe, useful and recoverable.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10241280" cy="10972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96926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this as the design test for every mechanism, task and lab artifact in this topic.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COMPONENT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Architecture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Progress panel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Planned, current and completed steps reveal runtime 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1691640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1691640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5452" y="1837944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Files panel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Shows which files were read or updated and supports evidence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Schedules panel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Pause or resume recurring work and inspect the active trigger.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4204" y="3206496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4204" y="3206496"/>
            <a:ext cx="73152" cy="13136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5372" y="34350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5372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5452" y="3352800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Takeover/Stop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Human interrupts browsing, supplies sensitive data directly, or cancels the task.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21352"/>
            <a:ext cx="5289804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616" y="4867656"/>
            <a:ext cx="4238244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Scorecard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Quality, safety, efficiency and business-result indicators drive the next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Observe the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Validate the artifact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Classify the exception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Contain and recover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Improve one control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A task is observable only when each stage exposes inputs, state, output and the next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REQUIRED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Factual accuracy, completeness, readability and source traceability.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Unauthorized actions, sensitive-data exposure, prompt-injection signals and approval compliance.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Efficiency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Cycle time, retries, human intervention minutes and failed-run rate.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Website task completion, qualified leads, owner acceptance and user feedback.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DECISION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Choice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Looks healthy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Hidden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Runs 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 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Could repeat the wrong 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Low intervention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Good autonomy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May indicate weak supervision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Fast cycle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Efficient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May skip evidence and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Choose the lowest-autonomy pattern that still meets the business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F5D60"/>
                </a:solidFill>
                <a:latin typeface="Arial"/>
              </a:rPr>
              <a:t>TOPIC 04 · 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Failure → Diagnostic →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Observable diagnostic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719072"/>
            <a:ext cx="3566160" cy="603504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9656"/>
            <a:ext cx="3346704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Prompt injection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Website, email or document contains instructions to exfiltrate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322576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86584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Stop, isolate the source and remove connected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Public 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Incorrect content reaches the website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2926080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990088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Rollback, publish correction, record affected audience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Runaway schedule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Repeated task consumes limits or duplicates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3529584"/>
            <a:ext cx="3566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93592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Pause schedule and cancel active tasks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F5D60"/>
                </a:solidFill>
                <a:latin typeface="Arial"/>
              </a:rPr>
              <a:t>Evidence mismatch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Report says success but files or links differ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133088"/>
            <a:ext cx="356616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197096"/>
            <a:ext cx="3383280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Trust external readback; reopen and re-test the artifact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82896"/>
            <a:ext cx="10332720" cy="530352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 </a:t>
            </a:r>
            <a:r>
              <a:rPr sz="1150" b="0">
                <a:solidFill>
                  <a:srgbClr val="161B26"/>
                </a:solidFill>
                <a:latin typeface="Arial"/>
              </a:rPr>
              <a:t>Stop on ambiguous authority; do not hide a partial or failed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Case: Northstar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context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scheduled content draft includes an unsupported claim and a malicious instruction embedded in a source page. The operator stops the run, disconnects the source, restores the last approved content and adds a source allow-list plus evidence checklist.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Approves sources, claims, permissions and any public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boundary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Researches, drafts, edits or analyses only within the approved contract.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package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diff, files, tests, source log, approval and rollback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quality score before and after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49808" y="1783080"/>
          <a:ext cx="74066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94192" y="1828800"/>
            <a:ext cx="2944368" cy="36118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084831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HOW TO READ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242316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 Values are an illustrative worked example.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 Compare relative risk or improvement, not industry benchmarks.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3. Use your own run evidence to replace these values.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Points Across the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goal, inputs, access and risk tier.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During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 progress, changed files, tool use and confirmation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 consequence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 human review for communications, publishing, payments and sensitive edits.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After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back the external state, store evidence and schedule the next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When May the Agent Continue?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8" name="Diamond 17"/>
          <p:cNvSpPr/>
          <p:nvPr/>
        </p:nvSpPr>
        <p:spPr>
          <a:xfrm>
            <a:off x="4480560" y="1828800"/>
            <a:ext cx="2971800" cy="2011680"/>
          </a:xfrm>
          <a:prstGeom prst="diamond">
            <a:avLst/>
          </a:prstGeom>
          <a:solidFill>
            <a:srgbClr val="E8F0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33172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 authority clear, risk bounded, and evidence visible?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4206240" cy="109728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4297680"/>
            <a:ext cx="4206240" cy="1097280"/>
          </a:xfrm>
          <a:prstGeom prst="round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YES · </a:t>
            </a:r>
            <a:r>
              <a:rPr sz="1200" b="0">
                <a:solidFill>
                  <a:srgbClr val="161B26"/>
                </a:solidFill>
                <a:latin typeface="Arial"/>
              </a:rPr>
              <a:t>Continue one bounded step and re-check the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2628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 · </a:t>
            </a:r>
            <a:r>
              <a:rPr sz="1200" b="0">
                <a:solidFill>
                  <a:srgbClr val="161B26"/>
                </a:solidFill>
                <a:latin typeface="Arial"/>
              </a:rPr>
              <a:t>Stop, take over or request a narrower instruction.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3703320"/>
            <a:ext cx="3035808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3703320"/>
            <a:ext cx="3273552" cy="59436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Is a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 brief, source list, version and permission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Plan, task progress, tool calls, changed files and confirmations.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Artifact, link, commit, screenshot, test report and source trace.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Reviewer, timestamp, approve/reject reason and rollback target.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PRODUCT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Pipeline for a Spark-Supported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6364224"/>
            <a:ext cx="28803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Source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920240"/>
            <a:ext cx="2489454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1920240"/>
            <a:ext cx="248945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01343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134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246120"/>
            <a:ext cx="2269998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Approved source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0430" y="1920240"/>
            <a:ext cx="2489454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40430" y="1920240"/>
            <a:ext cx="248945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340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40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246120"/>
            <a:ext cx="2269998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Observable search progress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47822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22492" y="1920240"/>
            <a:ext cx="2489454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2492" y="1920240"/>
            <a:ext cx="248945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65467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5467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246120"/>
            <a:ext cx="2269998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Artifact and change inventory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29884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04554" y="1920240"/>
            <a:ext cx="2489454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4554" y="1920240"/>
            <a:ext cx="2489454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47529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47529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246120"/>
            <a:ext cx="2269998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External-state readback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11946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A success message is weaker evidence than the artifact, change list and external readback.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· Monitor, Contain and Optimise an Agent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Evaluate a Spark-supported website workflow, respond to a simulated incident and implement one controlled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completed KPI scorecard, incident timeline, containment record, root-cause analysis and verified improvement proposal.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Gemini Spark task panels, schedule controls, website QA, evidence review, incident playbook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A4, K2, K6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4 ·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Mechanism - Not the Click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 supplied inputs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Create bounded artifact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 risk and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Test acceptance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Record sign-off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The learner detects the unsafe instruction, stops and contains the run, restores the approved state, explains the root cause, and proves one control improvement with before/after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completed KPI scorecard, incident timeline, containment record, root-cause analysis and verified improvement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Acceptance 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learner detects the unsafe instruction, stops and contains the run, restores the approved state, explains the root cause, and proves one control improvement with before/after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Practical criterion: A4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bridge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Oral criterion: K2, K6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Technical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Planned, current and completed steps reveal runtime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 the run → Validate the artifact → Classify the exception → Contain and recover → Improve one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Stop, isolate the source and remove connected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learner detects the unsafe instruction, stops and contains the run, restores the approved state, explains the root cause, and proves one control improvement with before/after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57400"/>
            <a:ext cx="8138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606040"/>
            <a:ext cx="896112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Evidence, Assessment and Next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187952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Turn the mechanisms into competent workplace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8580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Oval 8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Four Outcomes, One Operating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Autonomy is safe only when the goal, permission boundary, evidence and stop conditions are explicit.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Vibe coding is rapid co-creation with an AI coding agent, disciplined by small changes, executable evidence and human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reusable agent workflow is an operating procedure with versioned instructions, scoped tools, owners and measurable completion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agent is not successful because it completed a run; it is successful when the output is correct, safe, useful and recoverable.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RESEARCH RECORD · ACCESSED 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Primary Sources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10835640" cy="93497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93497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9784080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Gemini Spark product overview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https://gemini.google/overview/agent/spark/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827782"/>
            <a:ext cx="10835640" cy="93497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2827782"/>
            <a:ext cx="73152" cy="93497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305638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05638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2974086"/>
            <a:ext cx="9784080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Gemini Spark Help: tasks, workflows, safety and limits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https://support.google.com/gemini/answer/17094507?hl=en&amp;co=GENIE.Platform=Android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10835640" cy="93497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93497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9784080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Gemini Spark release updates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https://support.google.com/gemini/answer/17171264?hl=en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00066"/>
            <a:ext cx="10835640" cy="93497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100066"/>
            <a:ext cx="73152" cy="93497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532866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32866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5246370"/>
            <a:ext cx="9784080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Google: next evolution of the Gemini app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https://blog.google/innovation-and-ai/products/gemini-app/next-evolution-gemini-app/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1828800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Open source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816352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3"/>
              </a:rPr>
              <a:t>Open source 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803904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4"/>
              </a:rPr>
              <a:t>Open source 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791456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5"/>
              </a:rPr>
              <a:t>Open source ↗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SECONDARY SOURCES · ACCESSED 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Field Perspectives and Case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10835640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1313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9784080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HardwareZone Singapore beginner guide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https://www.hardwarezone.com.sg/guides/how-to-use-gemini-spark-guide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06496"/>
            <a:ext cx="10835640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206496"/>
            <a:ext cx="73152" cy="1313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3435096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43509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3352800"/>
            <a:ext cx="9784080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DataCamp: always-on agent explained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https://www.datacamp.com/blog/gemini-spark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721352"/>
            <a:ext cx="10835640" cy="13136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721352"/>
            <a:ext cx="73152" cy="1313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949952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949952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867656"/>
            <a:ext cx="9784080" cy="1094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WIRED hands-on perspective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https://www.wired.com/story/google-gemini-spark-ai-agent-hands-on/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1920240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2"/>
              </a:rPr>
              <a:t>Open source 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218688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3"/>
              </a:rPr>
              <a:t>Open source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517136"/>
            <a:ext cx="32918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  <a:hlinkClick r:id="rId4"/>
              </a:rPr>
              <a:t>Open source ↗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PP · 60 minutes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Four practical tasks covering A1-A4.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OQ · 20 minutes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Four oral questions covering K1-K6.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materials; complete the work individually.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Every printed criterion must be competent.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Final 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920240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3136" y="2331720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3136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TRAQOM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4017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4017" y="1920240"/>
            <a:ext cx="1933041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8785" y="233172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8785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3745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91409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09666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09666" y="1920240"/>
            <a:ext cx="1933041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4434" y="2331720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4434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394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Oral Questioning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7058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5315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5315" y="1920240"/>
            <a:ext cx="1933041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00083" y="233172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083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5043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2707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60964" y="1920240"/>
            <a:ext cx="1933041" cy="26974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60964" y="1920240"/>
            <a:ext cx="1933041" cy="109728"/>
          </a:xfrm>
          <a:prstGeom prst="rect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25732" y="2331720"/>
            <a:ext cx="603504" cy="603504"/>
          </a:xfrm>
          <a:prstGeom prst="ellipse">
            <a:avLst/>
          </a:prstGeom>
          <a:solidFill>
            <a:srgbClr val="EF5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5732" y="2331720"/>
            <a:ext cx="603504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0692" y="3246120"/>
            <a:ext cx="171358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Sign assessment record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68356" y="3268980"/>
            <a:ext cx="29260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80160" y="4892040"/>
            <a:ext cx="9509760" cy="777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74920"/>
            <a:ext cx="9052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  </a:t>
            </a:r>
            <a:r>
              <a:rPr sz="1300" b="0">
                <a:solidFill>
                  <a:srgbClr val="161B26"/>
                </a:solidFill>
                <a:latin typeface="Arial"/>
              </a:rPr>
              <a:t>PP covers A1-A4; OQ covers K1-K6; all criteria must be competent.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332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5613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2646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83696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48288" y="22860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6" y="39319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88" y="393192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83696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8288" y="557784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83696" y="722376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1691640"/>
            <a:ext cx="73152" cy="20711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192024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TRAQOM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assessment attendance QR code before starting.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1691640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204" y="1691640"/>
            <a:ext cx="73152" cy="20711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5372" y="19202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1920240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452" y="1837944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 evidence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the candidate papers and required practical artifacts on the LMS.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63924"/>
            <a:ext cx="73152" cy="20711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19252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Receive feedback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Discuss the result and sign the Assessment Summary Record.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204" y="3963924"/>
            <a:ext cx="5289804" cy="20711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4204" y="3963924"/>
            <a:ext cx="73152" cy="20711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5372" y="419252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5372" y="4192524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5452" y="4110228"/>
            <a:ext cx="4238244" cy="18516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Appeal if needed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documented appeal process within the stated window.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9875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Build small · verify evidence · keep humans in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34840"/>
            <a:ext cx="8503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https://www.tertiarycourses.com.sg/casl-ai-agents-with-gemini-spark.html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18504"/>
            <a:ext cx="11265408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4389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Agents with Gemini Spark  ·  TGS-2026064173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82512"/>
            <a:ext cx="3977639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